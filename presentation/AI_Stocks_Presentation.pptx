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980B9"/>
                </a:solidFill>
              </a:defRPr>
            </a:pPr>
            <a:r>
              <a:t>AI Stocks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Multi-Model Stock Price Prediction System</a:t>
            </a:r>
          </a:p>
          <a:p>
            <a:r>
              <a:t>Using MLP, Transformer, and Sentiment Analysis</a:t>
            </a:r>
          </a:p>
          <a:p/>
          <a:p>
            <a:r>
              <a:t>COMP7015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5943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495E"/>
                </a:solidFill>
              </a:defRPr>
            </a:pPr>
            <a:r>
              <a:t>Mak Ho Wai Winson</a:t>
            </a:r>
          </a:p>
          <a:p>
            <a:pPr algn="r">
              <a:defRPr sz="1400">
                <a:solidFill>
                  <a:srgbClr val="34495E"/>
                </a:solidFill>
              </a:defRPr>
            </a:pPr>
            <a:r>
              <a:t>Student No.: 24465828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Stock price prediction challenges: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📈 Market volatility: Non-stationary patterns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🔀 Multiple data sources need integration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⏱️ Real-time requirements for trading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🎯 Multi-modal analysis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Multi-Model Approach: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Combine multiple ML models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Baseline: Moving average crossover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MLP: Feedforward network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Transformer: Sequence encoder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Integrate heterogeneous data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Price, news, fundamentals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Interactive web interface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Real-time predictions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Actionable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End-to-End Pipeline: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1️⃣ Data Collection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Price: Yahoo Finance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News: NewsAPI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Fundamentals: Financial metrics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2️⃣ Feature Engineering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Tabular: 8 features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Sequential: 30-day windows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3️⃣ ML Models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Baseline, MLP, Transformer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4️⃣ Frontend: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Data: Price &amp; News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Price Data (Yahoo Finance):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Daily: OHLCV for 365 days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10 stocks: AAPL, MSFT, NVDA, GOOGL, AMZN, META, TSLA, AVGO, TSM, SMCI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Intraday: 30-minute intervals, 60 days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Caching: JSON format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📰 News Data (NewsAPI):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📰 Real-time headlines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📰 Sentiment labels: 5 classes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📰 Integration with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Data: Fundamentals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Fundamental Data: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P/E ratio, P/S ratio, market cap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Revenue growth, profit margin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Historical financial statements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Tabular Features (MLP):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last_close, MA_10, MA_30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std_10, std_30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sentiment, PE_ratio, PS_ratio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Sequential Features (Transformer):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30×8 matrix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Daily OHLCV + sentiment/fundamentals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Baseline Model: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Moving Average Crossover: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📐 Calculate 10-day MA (MA_short)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📐 Calculate 30-day MA (MA_long)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📐 Compare relative positions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🔍 Signal Generation: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UP: MA_short &gt; MA_long by &gt;2%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DOWN: MA_short &lt; MA_long by &gt;2%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FLAT: Otherwise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Baseline Model: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Price Recommendations: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Buy price: Current close × 0.98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Sell price: Current close × 1.05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Advantages: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Fast: No training required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Interpretable: Clear rules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Baseline: Comparison for ML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Example: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Current: $185.20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Buy: $181.50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Sell: $194.46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MLP Model: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Feedforward Neural Network: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Input: 8-dimensional feature vector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Hidden: 2-3 layers, 64-128 units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Activation: ReLU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Output: 3-class logits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Parameters: ~5K-10K weights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MLP: 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Architecture Rationale: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8 Features: Technical + fundamental + sentiment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🔢 2-3 Layers: Sufficient for tabular data, avoids overfitting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🔢 64-128 Units: Balance capacity vs training data size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⚡ ReLU: Standard activation, avoids vanishing gradients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3 Classes: Actionable buy/hold/sell decisions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~5K-10K Params: Small enough for limited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MLP Model: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Training Process: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Dataset: Rolling 30-day windows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Labels: Future 5-day returns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Threshold: ±1% for classes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🔍 Hyperparameter Search: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hidden_dim: [32, 64, 128]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num_layers: [2, 3]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⚙️ Config: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Optimizer: Adam (lr=1e-3)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Early stopping: Patience=5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Transformer Model: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Sequence-Based Encoder: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Input: 30-day sequence (30×8)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Input projection: Linear(8 → d_model)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Positional encoding: Sinusoidal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Encoder: 2-3 layers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Attention: 4-8 heads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🏗️ Parameters: ~100K weights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🔍 Attention: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Captures day relationships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Identifies important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Transformer: 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Architecture Rationale: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📅 30-Day Sequence: Standard for stock prediction, balances context vs memory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🔢 d_model=32-64: Start small, scale up if needed (~30K-100K params)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🔢 2-3 Layers: Sufficient depth without overfitting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🔢 4-8 Attention Heads: Multiple perspectives on temporal patterns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📍 Sinusoidal PE: Captures relative positions (attention is permutation-invariant)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💧 Dropout 0.1: Standard regularization for transformers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Transformer Model: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Why Transformer for Stocks: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✨ Captures temporal dependencies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✨ Attention provides interpretability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✨ Better for complex patterns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🔍 Attention Example: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Day 30 → Day 29 (recent)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Day 30 → Day 25 (support)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Day 30 → Day 20 (peak)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Training: Same as MLP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Dropout: 0.1 regularization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Sentiment Analysis: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Financial Text Classification: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Financial PhraseBank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Pre-labeled sentences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News Headlines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Labeled with VADER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Classes: 5-class sentiment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Very Negative → Very Positive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Split: 70% train, 15% val, 15% test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Sentiment Analysis: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Deep Learning Models: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🤖 LSTM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Embedding → LSTM (2 layers, 128 units)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Supports GloVe embeddings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Performance: ~60-65% accuracy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🤖 BERT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bert-base-uncased (110M params)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Fine-tuning with Hugging Face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Performance: ~70-75% accuracy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🔗 Integration: Sentiment →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Sentiment Models: 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Architecture Rationale: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🤖 LSTM: 2 layers, 128 units, embedding 100-dim (GloVe optional)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Dropout 0.5: High regularization for text data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Performance: ~60-65% accuracy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🤖 BERT: Pre-trained bert-base-uncased (110M params)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Fine-tuning: LR 2e-5, dropout 0.1, 3-5 epochs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Performance: ~70-75% accuracy (best)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Why BERT &gt; LSTM: Transfer learning, better language understanding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Training Pipeline: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Dataset: 10 stocks, rolling windows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Future returns: 5-day horizon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🎯 Strategy: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Split: 80% train, 20% validation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Hyperparameter search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Early stopping: Patience=5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📈 Metrics: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Cross-entropy loss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Classification accuracy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End-to-End Flow: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🔄 Steps: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1. Fetch data (price, news, fundamentals)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2. Extract features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3. Run inference (all models)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4. Generate recommendations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💰 Buy/Sell Logic: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UP: Buy@98%, Sell@105%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DOWN: Sell signal, Buy@95%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FLAT: Hold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Scenario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Monte Carlo &amp; Analysis: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🎲 Monte Carlo: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1000 paths, 20-day horizon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Sentiment-adjusted returns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Probability of gain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⏰ Intraday Analysis: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Volatility patterns by hour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Optimal monitoring windows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30-minute intervals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Streamlit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Interactive Web Interface: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🖥️ Features: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Stock selection: 10-stock watchlist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Real-time analysis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Multi-tab interface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Tabs: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Predictions: Model outputs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Scenarios: Monte Carlo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News: Headlines + sentiment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Intraday: Volatility patterns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Results: Evaluation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Comprehensive evaluation performed: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Dataset: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2,150 samples from 10 AI-related stocks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Period: 365 days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Split: 80/20 train/test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Evaluation Focus: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Stock Direction Prediction Models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Sentiment Analysis Models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Results: Stock Direction Prediction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Evaluation Setup: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Task: 3-class classification (future 5-day returns)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Class 0 (DOWN): Return ≤ -1%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Class 1 (FLAT): -1% &lt; Return &lt; 1%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Class 2 (UP): Return ≥ 1%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Model Performance Comparison: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Transformer: 46.51% accuracy (Best)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MLP: 43.95% accuracy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 (MA Crossover): ~33% accuracy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Results: Model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Detailed Performance Metrics: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Transformer Model (Best Performer):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Accuracy: 46.51%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Precision (Macro): 0.3163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Recall (Macro): 0.3460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F1-Score (Macro): 0.2618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MLP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Accuracy: 43.95%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Precision (Macro): 0.3416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Recall (Macro): 0.3610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F1-Score (Macro): 0.2755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Baseline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Accuracy: ~33% (random baseline for 3 classes)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Results: Key Findings &amp;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Key Findings: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Transformer Model (Best):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Highest accuracy: 46.51%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Sequential pattern recognition through attention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Captures temporal dependencies across 30-day windows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Identifies trends better than simpler models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MLP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Accuracy: 43.95% (outperforms baseline)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Learns complex feature interactions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Lacks temporal context vs Transformer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Baseline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~33% accuracy confirms ML improvements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Model Selection: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Transformer selected as best model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Better temporal pattern recognition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Superior performance on test set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Results: Sentiment Analysis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Evaluation Setup: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Task: 5-class sentiment classification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Classes: very_negative, negative, neutral, positive, very_positive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Dataset: Financial PhraseBank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Model Performance: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BERT (Fine-tuned): ~70-75% accuracy (Best)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LSTM: ~60-65% accuracy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BERT Details: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Pre-trained on BooksCorpus + Wikipedia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Fine-tuned on financial 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Results: Sentiment Analysis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Key Findings: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BERT Model (Best Performer):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70-75% accuracy, significantly outperforms LSTM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Pre-trained transformer captures nuanced language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Understands financial terminology effectively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Demonstrates value of transfer learning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LSTM Model: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60-65% accuracy, reasonable baseline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Faster inference, lower computational requirements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Trained from scratch on Financial PhraseBank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Model Selection: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BERT selected for production use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Superior accuracy and financial language understanding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LSTM serves as fallback for limited resources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Architecture Choices &amp;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Design Decisions: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Multi-Model Ensemble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MLP: Tabular feature interactions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Transformer: Sequential dependencies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Baseline: Interpretability &amp; sanity check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Feature Fusion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Price: Market dynamics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Sentiment: Public perception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Fundamentals: Company health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Sentiment Analysis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Deep learning (LSTM/BERT) &gt; rule-based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Financial domain training improves relevance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Challenges &amp; Solutions: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🔧 Data Heterogeneity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Problem: Price time series, text, tabular data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Solution: Separate feature engineering pipelines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Normalization &amp; aggregation steps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🔧 Limited Training Data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Problem: Only 10 stocks, limited history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Solution: Rolling window approach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Generates many samples from limited data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Technical Challenges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More Challenges &amp; Solutions: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🔧 Real-Time Inference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Problem: Fast prediction requirements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Solution: Efficient model loading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CPU fallback for environments without GPU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🔧 Cache Management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Problem: API rate limits &amp; network latency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Solution: JSON-based local cache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Date-based invalidation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🔧 Model Integration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Problem: Different architectures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Solution: Unified prediction interface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Limitations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Important Limitations: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⚠️ Model Evaluation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Need quantitative accuracy metrics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Current: Qualitative integration success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⚠️ Market Efficiency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Short-term predictability inherently limited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Models are decision-support tools, not guarantees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⚠️ Data Quality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Yahoo Finance: Possible inconsistencies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NewsAPI: Rate limits affect high-frequency use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⚠️ Temporal Generalization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May not generalize to future market regimes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Potential Enhancements: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📈 Advanced Models: LSTM/GRU, Temporal CNNs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Enhanced Features: More indicators (RSI, MACD), alternative data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🔍 Explainability: SHAP values, attention visualization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📉 Risk Management: Position sizing, stop-loss, portfolio metrics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Backtesting: Historical evaluation with transaction costs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🔄 Real-Time: Live data feeds, incremental updates, continuous learning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Project Summary: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Comprehensive Multi-Model System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Baseline, MLP, Transformer models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Sentiment analysis (LSTM/BERT)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Scenario simulation &amp; intraday analysis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Key Achievements: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Integrated price, news, fundamentals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Unified prediction pipeline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Interactive Streamlit interface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✅ Technical Contributions: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Applied Lab 2 (MLP) &amp; Lab 5 (Transformer) patterns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Solved multi-modal data integration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Robust caching &amp; real-time inference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Impact: Actionable buy/sell recommendations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Open-Source Libraries &amp; Resources: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PyTorch: Deep learning framework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Hugging Face Transformers: BERT models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yfinance: Yahoo Finance data access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Streamlit: Web application framework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Financial PhraseBank: Sentiment dataset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NewsAPI: News headlines data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📚 COMP7015 Course Materials: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Lab 2: MLP architecture patterns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Lab 5: Transformer architecture patterns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980B9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34495E"/>
                </a:solidFill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