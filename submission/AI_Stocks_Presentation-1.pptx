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132" d="100"/>
          <a:sy n="132" d="100"/>
        </p:scale>
        <p:origin x="15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2980B9"/>
                </a:solidFill>
              </a:defRPr>
            </a:pPr>
            <a:r>
              <a:t>AI Stocks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</a:defRPr>
            </a:pPr>
            <a:r>
              <a:t>Multi-Model Stock Price Prediction System</a:t>
            </a:r>
          </a:p>
          <a:p>
            <a:r>
              <a:t>Using MLP, Transformer, and Sentiment Analysis</a:t>
            </a:r>
          </a:p>
          <a:p>
            <a:endParaRPr/>
          </a:p>
          <a:p>
            <a:r>
              <a:t>COMP7015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59436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4495E"/>
                </a:solidFill>
              </a:defRPr>
            </a:pPr>
            <a:r>
              <a:t>Mak Ho Wai Winson</a:t>
            </a:r>
          </a:p>
          <a:p>
            <a:pPr algn="r">
              <a:defRPr sz="1400">
                <a:solidFill>
                  <a:srgbClr val="34495E"/>
                </a:solidFill>
              </a:defRPr>
            </a:pPr>
            <a:r>
              <a:t>Student No.: 24465828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80B9"/>
                </a:solidFill>
              </a:defRPr>
            </a:pPr>
            <a:r>
              <a:t>ACT 1: THE MYSTERY</a:t>
            </a:r>
          </a:p>
          <a:p>
            <a:pPr algn="ctr">
              <a:spcBef>
                <a:spcPts val="2000"/>
              </a:spcBef>
              <a:defRPr sz="2400">
                <a:solidFill>
                  <a:srgbClr val="34495E"/>
                </a:solidFill>
              </a:defRPr>
            </a:pPr>
            <a:r>
              <a:t>What questions drive our investigation?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The Questions That Drive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Can we solve the mystery of stock price prediction?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❓ Key Research Questions:</a:t>
            </a:r>
          </a:p>
          <a:p>
            <a:pPr lvl="1"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   • Can AI predict stock movements accurately?</a:t>
            </a:r>
          </a:p>
          <a:p>
            <a:pPr lvl="1"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   • Which model architecture works best?</a:t>
            </a:r>
          </a:p>
          <a:p>
            <a:pPr lvl="1"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   • How do we combine multiple data sources?</a:t>
            </a:r>
          </a:p>
          <a:p>
            <a:pPr lvl="1"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   • What patterns hide in the noise?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🔍 Challenges We Face:</a:t>
            </a:r>
          </a:p>
          <a:p>
            <a:pPr lvl="1"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   • Market volatility: Non-stationary patterns that change over time</a:t>
            </a:r>
          </a:p>
          <a:p>
            <a:pPr lvl="1"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   • Multiple data sources: Price, news, fundamentals - how to integrate?</a:t>
            </a:r>
          </a:p>
          <a:p>
            <a:pPr lvl="1"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   • Real-time requirements: Fast predictions for trading decisions</a:t>
            </a:r>
          </a:p>
          <a:p>
            <a:pPr lvl="1"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   • Multi-modal analysis: Numbers, text, and ratios - all matter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80B9"/>
                </a:solidFill>
              </a:defRPr>
            </a:pPr>
            <a:r>
              <a:t>ACT 2: THE INVESTIGATION</a:t>
            </a:r>
          </a:p>
          <a:p>
            <a:pPr algn="ctr">
              <a:spcBef>
                <a:spcPts val="2000"/>
              </a:spcBef>
              <a:defRPr sz="2400">
                <a:solidFill>
                  <a:srgbClr val="34495E"/>
                </a:solidFill>
              </a:defRPr>
            </a:pPr>
            <a:r>
              <a:t>Our systematic approach to solving the mystery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Our Investigation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We hypothesized that a multi-model approach would reveal hidden patterns: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Combine multiple ML models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Baseline: Our control experiment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MLP: The feature detective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Transformer: The pattern recognition expert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Integrate heterogeneous data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Price: Market dynamics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News: Public sentiment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Fundamentals: Company health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💡 Build an interactive system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Real-time predictions</a:t>
            </a:r>
          </a:p>
          <a:p>
            <a:pPr lvl="1">
              <a:spcAft>
                <a:spcPts val="500"/>
              </a:spcAft>
              <a:defRPr sz="1400">
                <a:solidFill>
                  <a:srgbClr val="2C3E50"/>
                </a:solidFill>
              </a:defRPr>
            </a:pPr>
            <a:r>
              <a:t>   • Actionable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Following the Data Trail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Our investigation began by gathering evidence: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📊 Price Data (Yahoo Finance):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Daily OHLCV for 365 days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10 AI-related stocks: AAPL, MSFT, NVDA, GOOGL, AMZN, META, TSLA, AVGO, TSM, SMCI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Intraday: 30-minute intervals, 60 days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Caching: JSON format for reproducibility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📰 News Data (NewsAPI):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Real-time headlines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Sentiment labels: 5 classes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Integration with prediction models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📈 Fundamental Data: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P/E ratio, P/S ratio, market cap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Revenue growth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Transforming Data into Clues: MLP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dirty="0"/>
              <a:t>MLP: Tabular Features (Single Snapshot)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📊 Format &amp; Structure: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Format: 1D vector of 8 features per sample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Features: [</a:t>
            </a:r>
            <a:r>
              <a:rPr dirty="0" err="1"/>
              <a:t>last_close</a:t>
            </a:r>
            <a:r>
              <a:rPr dirty="0"/>
              <a:t>, MA_10, MA_30, std_10, std_30, sentiment, </a:t>
            </a:r>
            <a:r>
              <a:rPr dirty="0" err="1"/>
              <a:t>PE_ratio</a:t>
            </a:r>
            <a:r>
              <a:rPr dirty="0"/>
              <a:t>, </a:t>
            </a:r>
            <a:r>
              <a:rPr dirty="0" err="1"/>
              <a:t>PS_ratio</a:t>
            </a:r>
            <a:r>
              <a:rPr dirty="0"/>
              <a:t>]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Input shape: (</a:t>
            </a:r>
            <a:r>
              <a:rPr dirty="0" err="1"/>
              <a:t>batch_size</a:t>
            </a:r>
            <a:r>
              <a:rPr dirty="0"/>
              <a:t>, 8)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Philosophy: Captures current state + aggregated statistics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No temporal order: Each sample is independent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📋 Example: AAPL on 2024-01-15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</a:t>
            </a:r>
            <a:r>
              <a:rPr dirty="0" err="1"/>
              <a:t>last_close</a:t>
            </a:r>
            <a:r>
              <a:rPr dirty="0"/>
              <a:t>: 185.50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MA_10: 183.20, MA_30: 180.45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std_10: 2.15, std_30: 3.42 (volatility)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sentiment: 0.65 (positive)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</a:t>
            </a:r>
            <a:r>
              <a:rPr dirty="0" err="1"/>
              <a:t>PE_ratio</a:t>
            </a:r>
            <a:r>
              <a:rPr dirty="0"/>
              <a:t>: 28.5, </a:t>
            </a:r>
            <a:r>
              <a:rPr dirty="0" err="1"/>
              <a:t>PS_ratio</a:t>
            </a:r>
            <a:r>
              <a:rPr dirty="0"/>
              <a:t>: 7.2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Full vector: [185.50, 183.20, 180.45, 2.15, 3.42, 0.65, 28.5, 7.2]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🏷️ Label Format: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Calculate 5-day future return from 2024-01-15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Class 0 (DOWN): Return ≤ -1%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Class 1 (FLAT): -1% &lt; Return &lt; +1%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Class 2 (UP): Return ≥ +1%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Example: If future return = +2.5% → Label = 2 (UP)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Transforming Data into Clues: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70000" lnSpcReduction="20000"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rPr dirty="0"/>
              <a:t>Transformer: Sequential Features (Time Series)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📈 Format &amp; Structure: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Format: 2D matrix of 30 days × 8 features per sample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Features: Same 8 features, repeated for each day in sequence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Input shape: (</a:t>
            </a:r>
            <a:r>
              <a:rPr dirty="0" err="1"/>
              <a:t>batch_size</a:t>
            </a:r>
            <a:r>
              <a:rPr dirty="0"/>
              <a:t>, 30, 8)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Philosophy: Captures temporal evolution and patterns over time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Temporal order matters: Sequence position encodes time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Enables attention: Model learns which days are most important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📋 Example: AAPL 30-day sequence ending 2024-01-15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Shape: (30, 8) - 30 days × 8 features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Day 1 (2023-12-17): [180.20, 178.50, 175.30, 1.85, 2.90, 0.55, 28.2, 7.0]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Day 15 (2023-12-31): [182.80, 181.20, 178.90, 2.05, 3.15, 0.60, 28.4, 7.1]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Day 30 (2024-01-15): [185.50, 183.20, 180.45, 2.15, 3.42, 0.65, 28.5, 7.2]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Each row represents one trading day's features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Model sees the entire 30-day evolution, not just the final day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🏷️ Label Format: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Calculate 5-day future return from sequence end date (2024-01-15)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Class 0 (DOWN): Return ≤ -1%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Class 1 (FLAT): -1% &lt; Return &lt; +1%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Class 2 (UP): Return ≥ +1%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Example: If future return = +2.5% → Label = 2 (UP)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Same label format as MLP, but features capture 30-day history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rPr dirty="0"/>
              <a:t>💡 Key Advantage: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Sees patterns: Upward trend over 30 days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Attention mechanism identifies important days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rPr dirty="0"/>
              <a:t>   • Captures momentum and temporal dependencies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980B9"/>
                </a:solidFill>
              </a:defRPr>
            </a:pPr>
            <a:r>
              <a:t>Our Investigative Tools: Baseline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The Control Experiment - Moving Average Crossover: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📐 Simple yet interpretable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Calculate 10-day MA (MA_short)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Calculate 30-day MA (MA_long)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Compare relative positions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🔍 Signal Generation: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UP: MA_short &gt; MA_long by &gt;2%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DOWN: MA_short &lt; MA_long by &gt;2%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FLAT: Otherwise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💡 Why it matters: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Fast: No training required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Interpretable: Clear rules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Baseline: Comparison point for ML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980B9"/>
                </a:solidFill>
              </a:defRPr>
            </a:pPr>
            <a:r>
              <a:t>Our Investigative Tools: MLP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The Feature Detective - Feedforward Neural Network: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🏗️ Architecture: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Input: 8-dimensional feature vector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Hidden: 2-3 layers, 64-128 units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Activation: ReLU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Output: 3-class logits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Parameters: ~5K-10K weights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💡 Design Rationale: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8 Features: Technical + fundamental + sentiment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2-3 Layers: Sufficient for tabular data, avoids overfitting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64-128 Units: Balance capacity vs training data size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Small model: Appropriate for limited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980B9"/>
                </a:solidFill>
              </a:defRPr>
            </a:pPr>
            <a:r>
              <a:t>Our Investigative Tools: Transformer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The Pattern Recognition Expert - Sequence-Based Encoder: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🏗️ Architecture: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Input: 30-day sequence (30×8)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Input projection: Linear(8 → d_model)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Positional encoding: Sinusoidal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Encoder: 2-3 layers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Attention: 4-8 heads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Parameters: ~100K weights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💡 Design Rationale: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30-Day Sequence: Standard for stock prediction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d_model=32-64: Start small, scale up if needed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4-8 Attention Heads: Multiple perspectives on temporal patterns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2-3 Layers: Balance depth vs overfitting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980B9"/>
                </a:solidFill>
              </a:defRPr>
            </a:pPr>
            <a:r>
              <a:t>Our Investigative Tools: 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The Language Interpreters - Deep Learning Models: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🤖 LSTM Model: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Embedding → LSTM (2 layers, 128 units)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Supports GloVe embeddings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Dropout 0.5: High regularization for text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🤖 BERT Model: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Pre-trained bert-base-uncased (110M params)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Fine-tuning: LR 2e-5, dropout 0.1, 3-5 epochs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Transfer learning benefits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💡 Why BERT &gt; LSTM: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Pre-trained transformer knowledge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Better language understanding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Captures nuanced financial language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The Training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How we trained our models: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📊 Dataset: 10 stocks, rolling windows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2,150 samples from 365 days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Future returns: 5-day horizon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Split: 80% train, 20% validation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🎯 Training Strategy: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Hyperparameter search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Early stopping: Patience=5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Optimizer: Adam (lr=1e-3)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📈 Metrics: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Cross-entropy loss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Classification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2980B9"/>
                </a:solidFill>
              </a:defRPr>
            </a:pPr>
            <a:r>
              <a:t>Putting It All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End-to-End Prediction Pipeline: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🔄 Steps: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1. Fetch data (price, news, fundamentals)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2. Extract features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3. Run inference (all models)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4. Generate recommendations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💰 Buy/Sell Logic: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UP: Buy@98%, Sell@105%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DOWN: Sell signal, Buy@95%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FLAT: Hold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🖥️ Frontend: Streamlit interface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Real-time analysis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Interactive visualizations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80B9"/>
                </a:solidFill>
              </a:defRPr>
            </a:pPr>
            <a:r>
              <a:t>ACT 3: THE DISCOVERY</a:t>
            </a:r>
          </a:p>
          <a:p>
            <a:pPr algn="ctr">
              <a:spcBef>
                <a:spcPts val="2000"/>
              </a:spcBef>
              <a:defRPr sz="2400">
                <a:solidFill>
                  <a:srgbClr val="34495E"/>
                </a:solidFill>
              </a:defRPr>
            </a:pPr>
            <a:r>
              <a:t>What did our investigation reveal?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980B9"/>
                </a:solidFill>
              </a:defRPr>
            </a:pPr>
            <a:r>
              <a:t>Setting the Stage for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Our evaluation methodology: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📊 Dataset: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2,150 samples from 10 AI-related stocks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Period: 365 days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Split: 80/20 train/test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📊 Evaluation Focus: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Stock Direction Prediction Models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Sentiment Analysis Models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🎯 Task: 3-class classification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Class 0 (DOWN): Return ≤ -1%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Class 1 (FLAT): -1% &lt; Return &lt; 1%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Class 2 (UP): Return ≥ 1%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980B9"/>
                </a:solidFill>
              </a:defRPr>
            </a:pPr>
            <a:r>
              <a:t>The Moment of Truth: Which Model Won?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Our investigation revealed: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🏆 Transformer Model: 50.0% accuracy (Best)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Precision (Macro): 0.348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Recall (Macro): 0.353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F1-Score (Macro): 0.294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Best Config: d_model=64, nhead=8, num_layers=3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🥈 MLP Model: 40.9% accuracy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Precision (Macro): 0.248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Recall (Macro): 0.325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F1-Score (Macro): 0.204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Best Config: hidden_dim=64, num_layers=3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📊 Baseline Model: ~36% accuracy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Moving average crossover strategy (MA_10 vs MA_30)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Visual Evidence: Model Performance Comparison (Baseline vs MLP vs Transformer)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Deeper Investigation: Per-Class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Sentiment Models: Visual Comparison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Dataset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3840480" cy="411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84048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980B9"/>
                </a:solidFill>
              </a:defRPr>
            </a:pPr>
            <a:r>
              <a:t>Pattern Recognition: What Models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Key insights from our analysis: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🔍 Class Imbalance Revelation: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Both models struggle with 'Flat' class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Test set: Down (42%), Flat (10%), Up (48%)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Models bias toward majority classes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🔍 Model Strengths: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Transformer: Excellent at 'Up' predictions (F1=0.64)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MLP: Better at 'Down' predictions (F1=0.58)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80B9"/>
                </a:solidFill>
              </a:defRPr>
            </a:pPr>
            <a:r>
              <a:t>ACT 4: THE INSIGHTS</a:t>
            </a:r>
          </a:p>
          <a:p>
            <a:pPr algn="ctr">
              <a:spcBef>
                <a:spcPts val="2000"/>
              </a:spcBef>
              <a:defRPr sz="2400">
                <a:solidFill>
                  <a:srgbClr val="34495E"/>
                </a:solidFill>
              </a:defRPr>
            </a:pPr>
            <a:r>
              <a:t>What does it all mean?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980B9"/>
                </a:solidFill>
              </a:defRPr>
            </a:pPr>
            <a:r>
              <a:t>The Trade-offs: Honest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Every discovery comes with limitations: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⚠️ Model Limitations: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50% accuracy is above random (33%) but not perfect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Class imbalance affects predictions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'Flat' class remains challenging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⚠️ Data Constraints: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Only 10 stocks, limited history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Small sentiment dataset (176 samples)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Market efficiency limits predictability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⚠️ Computational Considerations: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Transformer requires more compute than MLP</a:t>
            </a:r>
          </a:p>
          <a:p>
            <a:pPr lvl="1">
              <a:spcAft>
                <a:spcPts val="200"/>
              </a:spcAft>
              <a:defRPr sz="1400">
                <a:solidFill>
                  <a:srgbClr val="2C3E50"/>
                </a:solidFill>
              </a:defRPr>
            </a:pPr>
            <a:r>
              <a:t>   • BERT fine-tuning needs GPU resources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80B9"/>
                </a:solidFill>
              </a:defRPr>
            </a:pPr>
            <a:r>
              <a:t>ACT 5: THE FUTURE</a:t>
            </a:r>
          </a:p>
          <a:p>
            <a:pPr algn="ctr">
              <a:spcBef>
                <a:spcPts val="2000"/>
              </a:spcBef>
              <a:defRPr sz="2400">
                <a:solidFill>
                  <a:srgbClr val="34495E"/>
                </a:solidFill>
              </a:defRPr>
            </a:pPr>
            <a:r>
              <a:t>Where does this lead us?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2980B9"/>
                </a:solidFill>
              </a:defRPr>
            </a:pPr>
            <a:r>
              <a:t>Beyond the Horizon: 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Potential enhancements for future investigations: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📈 Advanced Models: LSTM/GRU, Temporal CNNs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Enhanced Features: More indicators (RSI, MACD), alternative data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🔍 Explainability: SHAP values, attention visualization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📉 Risk Management: Position sizing, stop-loss, portfolio metrics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📊 Backtesting: Historical evaluation with transaction costs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🔄 Real-Time: Live data feeds, incremental updates, continuous learning</a:t>
            </a:r>
          </a:p>
          <a:p>
            <a:pPr>
              <a:spcAft>
                <a:spcPts val="500"/>
              </a:spcAft>
              <a:defRPr sz="1600">
                <a:solidFill>
                  <a:srgbClr val="2C3E50"/>
                </a:solidFill>
              </a:defRPr>
            </a:pPr>
            <a:r>
              <a:t>⚖️ Class Imbalance: Class weighting, oversampling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2980B9"/>
                </a:solidFill>
              </a:defRPr>
            </a:pPr>
            <a:r>
              <a:t>Questions &amp; Answers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34495E"/>
                </a:solidFill>
              </a:defRPr>
            </a:pPr>
            <a:r>
              <a:t>Thank you for joining our investigation!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2048</Words>
  <Application>Microsoft Macintosh PowerPoint</Application>
  <PresentationFormat>如螢幕大小 (4:3)</PresentationFormat>
  <Paragraphs>250</Paragraphs>
  <Slides>27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AI Stocks</vt:lpstr>
      <vt:lpstr>PowerPoint 簡報</vt:lpstr>
      <vt:lpstr>The Questions That Drive Us</vt:lpstr>
      <vt:lpstr>PowerPoint 簡報</vt:lpstr>
      <vt:lpstr>Our Investigation Strategy</vt:lpstr>
      <vt:lpstr>Following the Data Trail</vt:lpstr>
      <vt:lpstr>Transforming Data into Clues: MLP</vt:lpstr>
      <vt:lpstr>Transforming Data into Clues: Transformer</vt:lpstr>
      <vt:lpstr>Our Investigative Tools: Baseline Model</vt:lpstr>
      <vt:lpstr>Our Investigative Tools: MLP Model</vt:lpstr>
      <vt:lpstr>Our Investigative Tools: Transformer Model</vt:lpstr>
      <vt:lpstr>Our Investigative Tools: Sentiment Analysis</vt:lpstr>
      <vt:lpstr>The Training Journey</vt:lpstr>
      <vt:lpstr>Putting It All Together</vt:lpstr>
      <vt:lpstr>PowerPoint 簡報</vt:lpstr>
      <vt:lpstr>Setting the Stage for Discovery</vt:lpstr>
      <vt:lpstr>The Moment of Truth: Which Model Won?</vt:lpstr>
      <vt:lpstr>PowerPoint 簡報</vt:lpstr>
      <vt:lpstr>PowerPoint 簡報</vt:lpstr>
      <vt:lpstr>PowerPoint 簡報</vt:lpstr>
      <vt:lpstr>PowerPoint 簡報</vt:lpstr>
      <vt:lpstr>Pattern Recognition: What Models Learned</vt:lpstr>
      <vt:lpstr>PowerPoint 簡報</vt:lpstr>
      <vt:lpstr>The Trade-offs: Honest Reflection</vt:lpstr>
      <vt:lpstr>PowerPoint 簡報</vt:lpstr>
      <vt:lpstr>Beyond the Horizon: Future Improvements</vt:lpstr>
      <vt:lpstr>Questions &amp; Answers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Winson MAK</cp:lastModifiedBy>
  <cp:revision>2</cp:revision>
  <dcterms:created xsi:type="dcterms:W3CDTF">2013-01-27T09:14:16Z</dcterms:created>
  <dcterms:modified xsi:type="dcterms:W3CDTF">2025-11-23T02:41:48Z</dcterms:modified>
  <cp:category/>
</cp:coreProperties>
</file>